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68" r:id="rId3"/>
    <p:sldId id="259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SamsungOne 450C" panose="020B0506030303020204" charset="0"/>
      <p:regular r:id="rId14"/>
    </p:embeddedFont>
    <p:embeddedFont>
      <p:font typeface="SamsungOne 800C" panose="020B0906030303020204" charset="0"/>
      <p:bold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7A"/>
    <a:srgbClr val="3094FF"/>
    <a:srgbClr val="5DCDFF"/>
    <a:srgbClr val="0071BC"/>
    <a:srgbClr val="A0E5FE"/>
    <a:srgbClr val="8864FF"/>
    <a:srgbClr val="00AFFF"/>
    <a:srgbClr val="F98413"/>
    <a:srgbClr val="CC5BAB"/>
    <a:srgbClr val="905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D64DB-6921-4E89-BB57-DA51E842492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9ED0C-BBFD-4690-9EF1-F32FDBA46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24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gradFill>
          <a:gsLst>
            <a:gs pos="6000">
              <a:schemeClr val="bg1"/>
            </a:gs>
            <a:gs pos="62000">
              <a:srgbClr val="5DCDFF"/>
            </a:gs>
            <a:gs pos="97000">
              <a:srgbClr val="8C62FF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325F9ED-FB2E-4ADD-8962-42ED7470A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t="5479" r="30931" b="31085"/>
          <a:stretch/>
        </p:blipFill>
        <p:spPr>
          <a:xfrm>
            <a:off x="3323205" y="0"/>
            <a:ext cx="8868796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D5EE4-F580-40F4-BCB2-FA2D3F254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0518" y="1406419"/>
            <a:ext cx="5833281" cy="2227482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600">
                <a:solidFill>
                  <a:srgbClr val="00497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2E705D-C962-41AC-853C-CF8433608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0518" y="3713056"/>
            <a:ext cx="5833281" cy="1828800"/>
          </a:xfrm>
        </p:spPr>
        <p:txBody>
          <a:bodyPr anchor="ctr">
            <a:norm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497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25888C-A95E-4A1F-AA86-46AA5438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BF629-A3BD-4A63-88E4-B4C92EA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217BE-D2B2-4E46-A31E-05CD31E3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7870AAFC-F658-4D4F-B37E-DA3BC9CB41D6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8005A1-155B-4DB1-875C-2838BFF3D9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2153465" cy="121132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9AD9452-0CC7-4848-B519-6D22F6986C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1" r="11861"/>
          <a:stretch/>
        </p:blipFill>
        <p:spPr>
          <a:xfrm>
            <a:off x="645730" y="980905"/>
            <a:ext cx="4874788" cy="5196502"/>
          </a:xfrm>
          <a:prstGeom prst="rect">
            <a:avLst/>
          </a:prstGeom>
        </p:spPr>
      </p:pic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CFBF183B-B98F-497F-9D31-BA26CF15B95F}"/>
              </a:ext>
            </a:extLst>
          </p:cNvPr>
          <p:cNvSpPr/>
          <p:nvPr userDrawn="1"/>
        </p:nvSpPr>
        <p:spPr>
          <a:xfrm rot="8100000">
            <a:off x="813790" y="107908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ECC510C8-6A8C-45FD-8F26-843E5DA58694}"/>
              </a:ext>
            </a:extLst>
          </p:cNvPr>
          <p:cNvSpPr/>
          <p:nvPr userDrawn="1"/>
        </p:nvSpPr>
        <p:spPr>
          <a:xfrm rot="8100000">
            <a:off x="724981" y="2206207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ый треугольник 13">
            <a:extLst>
              <a:ext uri="{FF2B5EF4-FFF2-40B4-BE49-F238E27FC236}">
                <a16:creationId xmlns:a16="http://schemas.microsoft.com/office/drawing/2014/main" id="{25A0F228-368F-4E72-AEFA-B8F7A2C64265}"/>
              </a:ext>
            </a:extLst>
          </p:cNvPr>
          <p:cNvSpPr/>
          <p:nvPr userDrawn="1"/>
        </p:nvSpPr>
        <p:spPr>
          <a:xfrm rot="13500000">
            <a:off x="4246229" y="1668722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>
            <a:extLst>
              <a:ext uri="{FF2B5EF4-FFF2-40B4-BE49-F238E27FC236}">
                <a16:creationId xmlns:a16="http://schemas.microsoft.com/office/drawing/2014/main" id="{789CF102-F384-4159-BBA3-C403C20908A9}"/>
              </a:ext>
            </a:extLst>
          </p:cNvPr>
          <p:cNvSpPr/>
          <p:nvPr userDrawn="1"/>
        </p:nvSpPr>
        <p:spPr>
          <a:xfrm rot="13500000">
            <a:off x="241646" y="5444620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ый треугольник 15">
            <a:extLst>
              <a:ext uri="{FF2B5EF4-FFF2-40B4-BE49-F238E27FC236}">
                <a16:creationId xmlns:a16="http://schemas.microsoft.com/office/drawing/2014/main" id="{AF8265A1-CAD2-4652-B16C-F2E19FD81F2F}"/>
              </a:ext>
            </a:extLst>
          </p:cNvPr>
          <p:cNvSpPr/>
          <p:nvPr userDrawn="1"/>
        </p:nvSpPr>
        <p:spPr>
          <a:xfrm rot="8100000">
            <a:off x="3490418" y="718813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ый треугольник 16">
            <a:extLst>
              <a:ext uri="{FF2B5EF4-FFF2-40B4-BE49-F238E27FC236}">
                <a16:creationId xmlns:a16="http://schemas.microsoft.com/office/drawing/2014/main" id="{9B0330C4-C5DD-4328-9BC7-57E1A77F6C10}"/>
              </a:ext>
            </a:extLst>
          </p:cNvPr>
          <p:cNvSpPr/>
          <p:nvPr userDrawn="1"/>
        </p:nvSpPr>
        <p:spPr>
          <a:xfrm rot="8100000">
            <a:off x="3688713" y="5151587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46B80265-DFAF-44E4-9B95-A2E492A32C17}"/>
              </a:ext>
            </a:extLst>
          </p:cNvPr>
          <p:cNvSpPr/>
          <p:nvPr userDrawn="1"/>
        </p:nvSpPr>
        <p:spPr>
          <a:xfrm>
            <a:off x="5853521" y="573125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10C2B20E-A830-482D-9E71-F29AC39BF8FB}"/>
              </a:ext>
            </a:extLst>
          </p:cNvPr>
          <p:cNvSpPr/>
          <p:nvPr userDrawn="1"/>
        </p:nvSpPr>
        <p:spPr>
          <a:xfrm>
            <a:off x="1130668" y="3065167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70E281E6-C275-41B0-8148-CABD6541204F}"/>
              </a:ext>
            </a:extLst>
          </p:cNvPr>
          <p:cNvSpPr/>
          <p:nvPr userDrawn="1"/>
        </p:nvSpPr>
        <p:spPr>
          <a:xfrm>
            <a:off x="3245400" y="1701670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C9933528-0DCA-4F7C-922E-4999CAAD3D5A}"/>
              </a:ext>
            </a:extLst>
          </p:cNvPr>
          <p:cNvSpPr/>
          <p:nvPr userDrawn="1"/>
        </p:nvSpPr>
        <p:spPr>
          <a:xfrm>
            <a:off x="1356679" y="5404154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2" name="Прямоугольный треугольник 21">
            <a:extLst>
              <a:ext uri="{FF2B5EF4-FFF2-40B4-BE49-F238E27FC236}">
                <a16:creationId xmlns:a16="http://schemas.microsoft.com/office/drawing/2014/main" id="{6C65F344-A574-4F02-91D3-07FC6E5B5033}"/>
              </a:ext>
            </a:extLst>
          </p:cNvPr>
          <p:cNvSpPr/>
          <p:nvPr userDrawn="1"/>
        </p:nvSpPr>
        <p:spPr>
          <a:xfrm rot="18900000">
            <a:off x="2386678" y="5706960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ый треугольник 22">
            <a:extLst>
              <a:ext uri="{FF2B5EF4-FFF2-40B4-BE49-F238E27FC236}">
                <a16:creationId xmlns:a16="http://schemas.microsoft.com/office/drawing/2014/main" id="{7B33F8A4-D60D-488E-81ED-86A3FE6D62E8}"/>
              </a:ext>
            </a:extLst>
          </p:cNvPr>
          <p:cNvSpPr/>
          <p:nvPr userDrawn="1"/>
        </p:nvSpPr>
        <p:spPr>
          <a:xfrm rot="18900000">
            <a:off x="4710131" y="5536795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ый треугольник 23">
            <a:extLst>
              <a:ext uri="{FF2B5EF4-FFF2-40B4-BE49-F238E27FC236}">
                <a16:creationId xmlns:a16="http://schemas.microsoft.com/office/drawing/2014/main" id="{C4E599F6-5CBC-4551-BD6C-077F23AF3941}"/>
              </a:ext>
            </a:extLst>
          </p:cNvPr>
          <p:cNvSpPr/>
          <p:nvPr userDrawn="1"/>
        </p:nvSpPr>
        <p:spPr>
          <a:xfrm rot="18900000">
            <a:off x="7686638" y="5679449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ый треугольник 24">
            <a:extLst>
              <a:ext uri="{FF2B5EF4-FFF2-40B4-BE49-F238E27FC236}">
                <a16:creationId xmlns:a16="http://schemas.microsoft.com/office/drawing/2014/main" id="{11E09F5D-4D01-4972-9F22-02A0248FF409}"/>
              </a:ext>
            </a:extLst>
          </p:cNvPr>
          <p:cNvSpPr/>
          <p:nvPr userDrawn="1"/>
        </p:nvSpPr>
        <p:spPr>
          <a:xfrm rot="18900000">
            <a:off x="11138348" y="5702654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ый треугольник 25">
            <a:extLst>
              <a:ext uri="{FF2B5EF4-FFF2-40B4-BE49-F238E27FC236}">
                <a16:creationId xmlns:a16="http://schemas.microsoft.com/office/drawing/2014/main" id="{1F17356E-9932-4687-822B-7B46265456F4}"/>
              </a:ext>
            </a:extLst>
          </p:cNvPr>
          <p:cNvSpPr/>
          <p:nvPr userDrawn="1"/>
        </p:nvSpPr>
        <p:spPr>
          <a:xfrm rot="8100000">
            <a:off x="9141043" y="116612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64F3876-52EF-445F-9D88-E589DA2D39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rgbClr val="00497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69629" y="404261"/>
            <a:ext cx="1276295" cy="19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7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 Слайд">
    <p:bg>
      <p:bgPr>
        <a:gradFill>
          <a:gsLst>
            <a:gs pos="0">
              <a:schemeClr val="bg1"/>
            </a:gs>
            <a:gs pos="38000">
              <a:srgbClr val="5DCDFF"/>
            </a:gs>
            <a:gs pos="64000">
              <a:srgbClr val="8C62FF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F865ADE-93B5-4588-8305-48B2BEC2FEEA}"/>
              </a:ext>
            </a:extLst>
          </p:cNvPr>
          <p:cNvSpPr/>
          <p:nvPr userDrawn="1"/>
        </p:nvSpPr>
        <p:spPr>
          <a:xfrm>
            <a:off x="75143" y="66438"/>
            <a:ext cx="12041715" cy="672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0CF99737-AECE-4F14-89EE-B6B6EB94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816"/>
            <a:ext cx="10515600" cy="4974147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497A"/>
                </a:solidFill>
              </a:defRPr>
            </a:lvl1pPr>
            <a:lvl2pPr>
              <a:defRPr sz="1600">
                <a:solidFill>
                  <a:srgbClr val="00497A"/>
                </a:solidFill>
              </a:defRPr>
            </a:lvl2pPr>
            <a:lvl3pPr>
              <a:defRPr sz="1400">
                <a:solidFill>
                  <a:srgbClr val="00497A"/>
                </a:solidFill>
              </a:defRPr>
            </a:lvl3pPr>
            <a:lvl4pPr>
              <a:defRPr sz="1200">
                <a:solidFill>
                  <a:srgbClr val="00497A"/>
                </a:solidFill>
              </a:defRPr>
            </a:lvl4pPr>
            <a:lvl5pPr>
              <a:defRPr sz="1200">
                <a:solidFill>
                  <a:srgbClr val="00497A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25888C-A95E-4A1F-AA86-46AA5438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BF629-A3BD-4A63-88E4-B4C92EA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217BE-D2B2-4E46-A31E-05CD31E3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7870AAFC-F658-4D4F-B37E-DA3BC9CB41D6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8005A1-155B-4DB1-875C-2838BFF3D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78" y="230091"/>
            <a:ext cx="1565600" cy="880650"/>
          </a:xfrm>
          <a:prstGeom prst="rect">
            <a:avLst/>
          </a:prstGeom>
        </p:spPr>
      </p:pic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CFBF183B-B98F-497F-9D31-BA26CF15B95F}"/>
              </a:ext>
            </a:extLst>
          </p:cNvPr>
          <p:cNvSpPr/>
          <p:nvPr userDrawn="1"/>
        </p:nvSpPr>
        <p:spPr>
          <a:xfrm rot="8100000">
            <a:off x="463203" y="707191"/>
            <a:ext cx="184546" cy="182731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>
            <a:extLst>
              <a:ext uri="{FF2B5EF4-FFF2-40B4-BE49-F238E27FC236}">
                <a16:creationId xmlns:a16="http://schemas.microsoft.com/office/drawing/2014/main" id="{789CF102-F384-4159-BBA3-C403C20908A9}"/>
              </a:ext>
            </a:extLst>
          </p:cNvPr>
          <p:cNvSpPr/>
          <p:nvPr userDrawn="1"/>
        </p:nvSpPr>
        <p:spPr>
          <a:xfrm rot="13500000">
            <a:off x="247432" y="1848548"/>
            <a:ext cx="390872" cy="38703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ый треугольник 15">
            <a:extLst>
              <a:ext uri="{FF2B5EF4-FFF2-40B4-BE49-F238E27FC236}">
                <a16:creationId xmlns:a16="http://schemas.microsoft.com/office/drawing/2014/main" id="{AF8265A1-CAD2-4652-B16C-F2E19FD81F2F}"/>
              </a:ext>
            </a:extLst>
          </p:cNvPr>
          <p:cNvSpPr/>
          <p:nvPr userDrawn="1"/>
        </p:nvSpPr>
        <p:spPr>
          <a:xfrm rot="8100000">
            <a:off x="452221" y="237731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ый треугольник 16">
            <a:extLst>
              <a:ext uri="{FF2B5EF4-FFF2-40B4-BE49-F238E27FC236}">
                <a16:creationId xmlns:a16="http://schemas.microsoft.com/office/drawing/2014/main" id="{9B0330C4-C5DD-4328-9BC7-57E1A77F6C10}"/>
              </a:ext>
            </a:extLst>
          </p:cNvPr>
          <p:cNvSpPr/>
          <p:nvPr userDrawn="1"/>
        </p:nvSpPr>
        <p:spPr>
          <a:xfrm rot="8100000">
            <a:off x="11630738" y="6109252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ый треугольник 21">
            <a:extLst>
              <a:ext uri="{FF2B5EF4-FFF2-40B4-BE49-F238E27FC236}">
                <a16:creationId xmlns:a16="http://schemas.microsoft.com/office/drawing/2014/main" id="{6C65F344-A574-4F02-91D3-07FC6E5B5033}"/>
              </a:ext>
            </a:extLst>
          </p:cNvPr>
          <p:cNvSpPr/>
          <p:nvPr userDrawn="1"/>
        </p:nvSpPr>
        <p:spPr>
          <a:xfrm rot="18900000">
            <a:off x="640728" y="5962466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ый треугольник 22">
            <a:extLst>
              <a:ext uri="{FF2B5EF4-FFF2-40B4-BE49-F238E27FC236}">
                <a16:creationId xmlns:a16="http://schemas.microsoft.com/office/drawing/2014/main" id="{7B33F8A4-D60D-488E-81ED-86A3FE6D62E8}"/>
              </a:ext>
            </a:extLst>
          </p:cNvPr>
          <p:cNvSpPr/>
          <p:nvPr userDrawn="1"/>
        </p:nvSpPr>
        <p:spPr>
          <a:xfrm rot="18900000">
            <a:off x="3552592" y="6019366"/>
            <a:ext cx="276113" cy="273399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ый треугольник 23">
            <a:extLst>
              <a:ext uri="{FF2B5EF4-FFF2-40B4-BE49-F238E27FC236}">
                <a16:creationId xmlns:a16="http://schemas.microsoft.com/office/drawing/2014/main" id="{C4E599F6-5CBC-4551-BD6C-077F23AF3941}"/>
              </a:ext>
            </a:extLst>
          </p:cNvPr>
          <p:cNvSpPr/>
          <p:nvPr userDrawn="1"/>
        </p:nvSpPr>
        <p:spPr>
          <a:xfrm rot="18900000">
            <a:off x="8198253" y="6158127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ый треугольник 24">
            <a:extLst>
              <a:ext uri="{FF2B5EF4-FFF2-40B4-BE49-F238E27FC236}">
                <a16:creationId xmlns:a16="http://schemas.microsoft.com/office/drawing/2014/main" id="{11E09F5D-4D01-4972-9F22-02A0248FF409}"/>
              </a:ext>
            </a:extLst>
          </p:cNvPr>
          <p:cNvSpPr/>
          <p:nvPr userDrawn="1"/>
        </p:nvSpPr>
        <p:spPr>
          <a:xfrm rot="18900000">
            <a:off x="11492079" y="6292570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345522D5-2C20-4CF3-A8DA-DDA51379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</p:spPr>
        <p:txBody>
          <a:bodyPr/>
          <a:lstStyle>
            <a:lvl1pPr>
              <a:lnSpc>
                <a:spcPct val="70000"/>
              </a:lnSpc>
              <a:defRPr>
                <a:solidFill>
                  <a:srgbClr val="00497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76A972D-CF22-4B4A-AF0A-F6DC4391B4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00497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130354" y="598091"/>
            <a:ext cx="1272875" cy="1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9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A2AC8-114A-46AC-B35B-396DBE58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7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6DE726-AA14-4FAF-B5F3-2A3EFA0B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535"/>
            <a:ext cx="10515600" cy="4894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FD4354-4778-468B-91C4-97249FCFD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B0392-6652-4E63-9185-19FE4105AD5C}" type="datetime1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F4A626-4F6C-42AB-8AFF-12301F58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200E71-06BC-408F-90F3-B595B2DBF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90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A13D635-6BF1-4764-86FF-0A9663CDE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3222" y="1986450"/>
            <a:ext cx="6190778" cy="278875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tx1"/>
                </a:solidFill>
              </a:rPr>
              <a:t>Разработка </a:t>
            </a:r>
            <a:r>
              <a:rPr lang="ru-RU" sz="3200" dirty="0" err="1">
                <a:solidFill>
                  <a:schemeClr val="tx1"/>
                </a:solidFill>
              </a:rPr>
              <a:t>Android</a:t>
            </a:r>
            <a:r>
              <a:rPr lang="ru-RU" sz="3200" dirty="0">
                <a:solidFill>
                  <a:schemeClr val="tx1"/>
                </a:solidFill>
              </a:rPr>
              <a:t>-приложения для учёта поступления и расхода товаров на складе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9D88EB6-1ACB-4054-871A-5CA5A2A46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0518" y="4953000"/>
            <a:ext cx="5833281" cy="1028700"/>
          </a:xfrm>
        </p:spPr>
        <p:txBody>
          <a:bodyPr/>
          <a:lstStyle/>
          <a:p>
            <a:pPr algn="r"/>
            <a:r>
              <a:rPr lang="ru-RU" sz="1800" dirty="0"/>
              <a:t>Подготовила: Брянцева К. Ю.</a:t>
            </a:r>
          </a:p>
          <a:p>
            <a:pPr algn="r"/>
            <a:r>
              <a:rPr lang="ru-RU" sz="1800" dirty="0"/>
              <a:t>Преподаватель: Ушаков В. А.</a:t>
            </a:r>
          </a:p>
          <a:p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2A2831-1BF4-41B3-BA8D-215B49F8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F048-DFDB-4194-AEE4-02DDD855F7A2}" type="datetime1">
              <a:rPr lang="ru-RU" smtClean="0"/>
              <a:t>02.05.2026</a:t>
            </a:fld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21B821-5910-4401-BDB1-D24135D7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1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464C35-8B81-414F-B869-B20E2CD14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3054" y="2385132"/>
            <a:ext cx="4080680" cy="9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0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52878BD1-97FB-6565-D25D-B94F5BD32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Складской учёт — критически важная часть логистики и управления запасами в любой компании. Однако во многих небольших организациях до сих пор используются бумажные журналы или Excel-таблицы, что приводит к ошибкам, дублированию данных и потере времени.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8B666B-2EA7-37E0-556C-DDA29656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C32FED-B23C-3D74-348D-B9FEA22C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44B45E8-0274-2D30-C6CD-71584F07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Актуальность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65226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9E560912-BE57-EE21-C30B-E359C9446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/>
              <a:t>Создать </a:t>
            </a:r>
            <a:r>
              <a:rPr lang="ru-RU" sz="3200" b="1" dirty="0"/>
              <a:t>мобильное приложение</a:t>
            </a:r>
            <a:r>
              <a:rPr lang="ru-RU" sz="3200" dirty="0"/>
              <a:t> для удобного и безопасного управления складскими операциями в реальном времени.</a:t>
            </a:r>
          </a:p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36C6FB-4B8B-69F3-7F4F-044686EB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641B5E-2096-4D25-EC8B-401C0E35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CC8628D-A725-5586-1FB6-15F3F965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Цель проекта</a:t>
            </a:r>
            <a:endParaRPr lang="ru-RU" sz="4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25748E-1437-D21A-C346-7B55C01D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25" t="6749" r="37247" b="71329"/>
          <a:stretch>
            <a:fillRect/>
          </a:stretch>
        </p:blipFill>
        <p:spPr>
          <a:xfrm>
            <a:off x="5262521" y="2512262"/>
            <a:ext cx="2026038" cy="81646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F692FB-2927-5216-7B07-650759D14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07" t="49806" r="70892" b="28273"/>
          <a:stretch>
            <a:fillRect/>
          </a:stretch>
        </p:blipFill>
        <p:spPr>
          <a:xfrm>
            <a:off x="2087252" y="3936387"/>
            <a:ext cx="2012512" cy="8150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2FC4F8C-22C7-0F3E-D6A4-7E74A2291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917" t="34202" r="3755" b="44147"/>
          <a:stretch>
            <a:fillRect/>
          </a:stretch>
        </p:blipFill>
        <p:spPr>
          <a:xfrm>
            <a:off x="8691278" y="3908285"/>
            <a:ext cx="2189070" cy="87127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B757E12-CBD6-A2EA-4D2E-BE3D6E6B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917" t="74070" r="3881" b="4820"/>
          <a:stretch>
            <a:fillRect/>
          </a:stretch>
        </p:blipFill>
        <p:spPr>
          <a:xfrm>
            <a:off x="5276047" y="5413062"/>
            <a:ext cx="2012512" cy="78488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A7003E1-51FE-2FBA-63AC-F83EE8ECE9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09" t="46998" r="38197" b="27842"/>
          <a:stretch>
            <a:fillRect/>
          </a:stretch>
        </p:blipFill>
        <p:spPr>
          <a:xfrm>
            <a:off x="5348816" y="3893730"/>
            <a:ext cx="1866974" cy="904015"/>
          </a:xfrm>
          <a:prstGeom prst="rect">
            <a:avLst/>
          </a:prstGeom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BA55C08-B770-198E-238A-5C452C996DE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099764" y="4343921"/>
            <a:ext cx="1249052" cy="1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1D2C8520-B61B-C09E-7FF5-E460735B1C1C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flipH="1">
            <a:off x="7215790" y="4343922"/>
            <a:ext cx="1475488" cy="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0B38F994-C52D-4F79-DA64-51A31372A2D5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V="1">
            <a:off x="6282303" y="4797745"/>
            <a:ext cx="0" cy="615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0165C37-96BA-1E99-641B-3F5E740FB147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6275540" y="3328725"/>
            <a:ext cx="6763" cy="565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Знак ''минус'' 43">
            <a:extLst>
              <a:ext uri="{FF2B5EF4-FFF2-40B4-BE49-F238E27FC236}">
                <a16:creationId xmlns:a16="http://schemas.microsoft.com/office/drawing/2014/main" id="{3479B3A7-9B51-FB6B-F6F8-AE31A0B462BB}"/>
              </a:ext>
            </a:extLst>
          </p:cNvPr>
          <p:cNvSpPr/>
          <p:nvPr/>
        </p:nvSpPr>
        <p:spPr>
          <a:xfrm>
            <a:off x="8217826" y="4101768"/>
            <a:ext cx="235242" cy="193466"/>
          </a:xfrm>
          <a:prstGeom prst="mathMinu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Знак ''минус'' 44">
            <a:extLst>
              <a:ext uri="{FF2B5EF4-FFF2-40B4-BE49-F238E27FC236}">
                <a16:creationId xmlns:a16="http://schemas.microsoft.com/office/drawing/2014/main" id="{C8DDA473-7E8F-7199-6119-EAD89F9FACD3}"/>
              </a:ext>
            </a:extLst>
          </p:cNvPr>
          <p:cNvSpPr/>
          <p:nvPr/>
        </p:nvSpPr>
        <p:spPr>
          <a:xfrm>
            <a:off x="6513805" y="5099051"/>
            <a:ext cx="229891" cy="190499"/>
          </a:xfrm>
          <a:prstGeom prst="mathMinu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Знак ''плюс'' 45">
            <a:extLst>
              <a:ext uri="{FF2B5EF4-FFF2-40B4-BE49-F238E27FC236}">
                <a16:creationId xmlns:a16="http://schemas.microsoft.com/office/drawing/2014/main" id="{A323DC87-E638-7A9C-9C28-B4084D652BD6}"/>
              </a:ext>
            </a:extLst>
          </p:cNvPr>
          <p:cNvSpPr/>
          <p:nvPr/>
        </p:nvSpPr>
        <p:spPr>
          <a:xfrm>
            <a:off x="4258220" y="4087996"/>
            <a:ext cx="235235" cy="153075"/>
          </a:xfrm>
          <a:prstGeom prst="mathPlu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0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33E84B10-E3ED-2D21-CEBC-87494E7F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Реализовать CRUD-операции для товаров, поставок, отгрузок и списаний</a:t>
            </a:r>
          </a:p>
          <a:p>
            <a:r>
              <a:rPr lang="ru-RU" sz="2800" dirty="0"/>
              <a:t>Обеспечить работу с фильтрацией и поиском</a:t>
            </a:r>
          </a:p>
          <a:p>
            <a:r>
              <a:rPr lang="ru-RU" sz="2800" dirty="0"/>
              <a:t>Реализовать интуитивный интерфейс с жестами</a:t>
            </a:r>
          </a:p>
          <a:p>
            <a:r>
              <a:rPr lang="ru-RU" sz="2800" dirty="0"/>
              <a:t>Обеспечить надёжную архитектуру и защиту от ошибок</a:t>
            </a:r>
          </a:p>
          <a:p>
            <a:r>
              <a:rPr lang="ru-RU" sz="2800" dirty="0"/>
              <a:t>Синхронизировать данные с бэкендом (Spring Boot)</a:t>
            </a:r>
          </a:p>
          <a:p>
            <a:pPr marL="0" indent="0">
              <a:buNone/>
            </a:pPr>
            <a:endParaRPr lang="ru-RU" sz="2800" dirty="0"/>
          </a:p>
          <a:p>
            <a:endParaRPr lang="ru-RU" sz="2800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C99128-210F-B6D4-D77A-41099412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EDD350-9029-0C65-FB30-88A4F266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12D01B0-FA85-26F0-CC3A-19E78F2E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b="1" dirty="0"/>
              <a:t>Задачи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32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8DC9C1F-7C87-70C2-B731-903D0A37C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Проект разделён на модули (</a:t>
            </a:r>
            <a:r>
              <a:rPr lang="ru-RU" sz="2400" dirty="0" err="1"/>
              <a:t>data</a:t>
            </a:r>
            <a:r>
              <a:rPr lang="ru-RU" sz="2400" dirty="0"/>
              <a:t>, </a:t>
            </a:r>
            <a:r>
              <a:rPr lang="ru-RU" sz="2400" dirty="0" err="1"/>
              <a:t>domain</a:t>
            </a:r>
            <a:r>
              <a:rPr lang="ru-RU" sz="2400" dirty="0"/>
              <a:t>, </a:t>
            </a:r>
            <a:r>
              <a:rPr lang="ru-RU" sz="2400" dirty="0" err="1"/>
              <a:t>view</a:t>
            </a:r>
            <a:r>
              <a:rPr lang="ru-RU" sz="2400" dirty="0"/>
              <a:t>), что соответствует принципу </a:t>
            </a:r>
            <a:r>
              <a:rPr lang="ru-RU" sz="2400" b="1" dirty="0"/>
              <a:t>слоистой архитектуры.</a:t>
            </a:r>
          </a:p>
          <a:p>
            <a:endParaRPr lang="ru-RU" sz="2400" b="1" dirty="0"/>
          </a:p>
          <a:p>
            <a:r>
              <a:rPr lang="ru-RU" sz="2400" b="1" dirty="0"/>
              <a:t> Имеет ряд преимуществ:</a:t>
            </a:r>
          </a:p>
          <a:p>
            <a:r>
              <a:rPr lang="ru-RU" sz="2400" dirty="0"/>
              <a:t>Тестируемость</a:t>
            </a:r>
          </a:p>
          <a:p>
            <a:r>
              <a:rPr lang="ru-RU" sz="2400" dirty="0"/>
              <a:t>Разделение ответственности</a:t>
            </a:r>
          </a:p>
          <a:p>
            <a:r>
              <a:rPr lang="ru-RU" sz="2400" dirty="0"/>
              <a:t>Лёгкая замена сетевого слоя</a:t>
            </a:r>
          </a:p>
          <a:p>
            <a:r>
              <a:rPr lang="ru-RU" sz="2400" dirty="0"/>
              <a:t>Устойчивость к изменениям</a:t>
            </a:r>
          </a:p>
          <a:p>
            <a:endParaRPr lang="ru-RU" sz="2400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710B02-FF30-6739-0033-AFAA2741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BA8696-67BF-321B-15E2-BFDE4DF71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196D748-291A-4AF1-3B39-FC295EE0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Архитектура приложения</a:t>
            </a:r>
            <a:endParaRPr lang="ru-RU" sz="4000" dirty="0"/>
          </a:p>
        </p:txBody>
      </p:sp>
      <p:pic>
        <p:nvPicPr>
          <p:cNvPr id="6" name="Рисунок 5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A7E94F-9E3D-5852-22DB-E9DDAFAC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196" y="3121213"/>
            <a:ext cx="2718494" cy="2829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Рисунок 6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78DFD8-498C-CF2B-DD32-051D5122C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145" y="3121213"/>
            <a:ext cx="3296110" cy="2829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01721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E40AE1AF-77E3-BC6E-6E5D-087E7B081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5113338" algn="l"/>
              </a:tabLst>
            </a:pPr>
            <a:r>
              <a:rPr lang="ru-RU" sz="2400" dirty="0"/>
              <a:t>Управление </a:t>
            </a:r>
            <a:r>
              <a:rPr lang="ru-RU" sz="2400" b="1" dirty="0"/>
              <a:t>товарами</a:t>
            </a:r>
            <a:r>
              <a:rPr lang="ru-RU" sz="2400" dirty="0"/>
              <a:t> (редактирование, категории)</a:t>
            </a:r>
          </a:p>
          <a:p>
            <a:pPr>
              <a:tabLst>
                <a:tab pos="5113338" algn="l"/>
              </a:tabLst>
            </a:pPr>
            <a:r>
              <a:rPr lang="ru-RU" sz="2400" dirty="0"/>
              <a:t>Управление </a:t>
            </a:r>
            <a:r>
              <a:rPr lang="ru-RU" sz="2400" b="1" dirty="0"/>
              <a:t>поставщиками</a:t>
            </a:r>
            <a:r>
              <a:rPr lang="ru-RU" sz="2400" dirty="0"/>
              <a:t> (редактирование)</a:t>
            </a:r>
          </a:p>
          <a:p>
            <a:pPr>
              <a:tabLst>
                <a:tab pos="5113338" algn="l"/>
              </a:tabLst>
            </a:pPr>
            <a:r>
              <a:rPr lang="ru-RU" sz="2400" dirty="0"/>
              <a:t>Учёт </a:t>
            </a:r>
            <a:r>
              <a:rPr lang="ru-RU" sz="2400" b="1" dirty="0"/>
              <a:t>поставок</a:t>
            </a:r>
            <a:r>
              <a:rPr lang="ru-RU" sz="2400" dirty="0"/>
              <a:t> (добавление товара на склад)</a:t>
            </a:r>
          </a:p>
          <a:p>
            <a:pPr>
              <a:tabLst>
                <a:tab pos="5113338" algn="l"/>
              </a:tabLst>
            </a:pPr>
            <a:r>
              <a:rPr lang="ru-RU" sz="2400" dirty="0"/>
              <a:t>Учёт </a:t>
            </a:r>
            <a:r>
              <a:rPr lang="ru-RU" sz="2400" b="1" dirty="0"/>
              <a:t>отгрузок</a:t>
            </a:r>
            <a:r>
              <a:rPr lang="ru-RU" sz="2400" dirty="0"/>
              <a:t> (списание товара со склада)</a:t>
            </a:r>
          </a:p>
          <a:p>
            <a:pPr>
              <a:tabLst>
                <a:tab pos="5113338" algn="l"/>
              </a:tabLst>
            </a:pPr>
            <a:r>
              <a:rPr lang="ru-RU" sz="2400" dirty="0"/>
              <a:t>Учёт </a:t>
            </a:r>
            <a:r>
              <a:rPr lang="ru-RU" sz="2400" b="1" dirty="0"/>
              <a:t>списаний</a:t>
            </a:r>
            <a:r>
              <a:rPr lang="ru-RU" sz="2400" dirty="0"/>
              <a:t> (по причинам: брак, кража и др.)</a:t>
            </a:r>
          </a:p>
          <a:p>
            <a:pPr>
              <a:tabLst>
                <a:tab pos="5113338" algn="l"/>
              </a:tabLst>
            </a:pPr>
            <a:r>
              <a:rPr lang="ru-RU" sz="2400" dirty="0"/>
              <a:t>Фильтрация по категориям, поставщикам, причинам и др.</a:t>
            </a:r>
          </a:p>
          <a:p>
            <a:pPr>
              <a:tabLst>
                <a:tab pos="5113338" algn="l"/>
              </a:tabLst>
            </a:pPr>
            <a:r>
              <a:rPr lang="ru-RU" sz="2400" dirty="0"/>
              <a:t>Валидация (нельзя отгрузить больше, чем есть и др.)</a:t>
            </a:r>
          </a:p>
          <a:p>
            <a:pPr marL="0" indent="0">
              <a:buNone/>
              <a:tabLst>
                <a:tab pos="5113338" algn="l"/>
              </a:tabLst>
            </a:pPr>
            <a:endParaRPr lang="ru-RU" sz="2400" dirty="0"/>
          </a:p>
          <a:p>
            <a:pPr>
              <a:tabLst>
                <a:tab pos="5113338" algn="l"/>
              </a:tabLst>
            </a:pPr>
            <a:endParaRPr lang="ru-RU" sz="2400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4CE1E1-1BD1-FAB9-BFE5-8D17B7AF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0B3CC3-D4EC-A1B2-E0D1-4FDF0B00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E7F3663-46AE-146D-A9E2-D4331931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О приложении (функционал)</a:t>
            </a:r>
            <a:endParaRPr lang="ru-RU" sz="4000" dirty="0"/>
          </a:p>
        </p:txBody>
      </p:sp>
      <p:pic>
        <p:nvPicPr>
          <p:cNvPr id="6" name="Рисунок 5" descr="Изображение выглядит как текст, снимок экрана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C7BE25-05A5-6594-B7A7-EEF665786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185" y="1202816"/>
            <a:ext cx="2198030" cy="4760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 contourW="50800"/>
        </p:spPr>
      </p:pic>
    </p:spTree>
    <p:extLst>
      <p:ext uri="{BB962C8B-B14F-4D97-AF65-F5344CB8AC3E}">
        <p14:creationId xmlns:p14="http://schemas.microsoft.com/office/powerpoint/2010/main" val="400574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75545C70-A87D-9984-3626-2E219FE1D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816"/>
            <a:ext cx="4969933" cy="4974147"/>
          </a:xfrm>
        </p:spPr>
        <p:txBody>
          <a:bodyPr>
            <a:normAutofit/>
          </a:bodyPr>
          <a:lstStyle/>
          <a:p>
            <a:r>
              <a:rPr lang="ru-RU" sz="2400" dirty="0"/>
              <a:t>Современный </a:t>
            </a:r>
            <a:r>
              <a:rPr lang="ru-RU" sz="2400" dirty="0" err="1"/>
              <a:t>Material</a:t>
            </a:r>
            <a:r>
              <a:rPr lang="ru-RU" sz="2400" dirty="0"/>
              <a:t> Design</a:t>
            </a:r>
          </a:p>
          <a:p>
            <a:r>
              <a:rPr lang="ru-RU" sz="2400" dirty="0" err="1"/>
              <a:t>Свайп</a:t>
            </a:r>
            <a:r>
              <a:rPr lang="ru-RU" sz="2400" dirty="0"/>
              <a:t> для редактирования (товары, поставщики) и удаления (поставки, отгрузки, списания)</a:t>
            </a:r>
          </a:p>
          <a:p>
            <a:r>
              <a:rPr lang="ru-RU" sz="2400" dirty="0"/>
              <a:t>Кастомные диалоги в едином стиле</a:t>
            </a:r>
          </a:p>
          <a:p>
            <a:r>
              <a:rPr lang="ru-RU" sz="2400" dirty="0"/>
              <a:t>Поддержка светлой и тёмной тем</a:t>
            </a:r>
          </a:p>
          <a:p>
            <a:endParaRPr lang="ru-RU" sz="2400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386FB4-09E7-02EE-BA68-F41B0123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23D244-EFE7-0461-77F3-69D38BEE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B7A3EE2-0624-CCCE-747F-BE6DEAC7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О приложении (</a:t>
            </a:r>
            <a:r>
              <a:rPr lang="en-US" sz="4000" b="1" dirty="0"/>
              <a:t>UI/UX </a:t>
            </a:r>
            <a:r>
              <a:rPr lang="ru-RU" sz="4000" b="1" dirty="0"/>
              <a:t>особенности)</a:t>
            </a:r>
            <a:endParaRPr lang="ru-RU" sz="4000" dirty="0"/>
          </a:p>
        </p:txBody>
      </p:sp>
      <p:pic>
        <p:nvPicPr>
          <p:cNvPr id="7" name="Рисунок 6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D5824A-2810-FA94-DD25-13C8CBB34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16"/>
          <a:stretch>
            <a:fillRect/>
          </a:stretch>
        </p:blipFill>
        <p:spPr>
          <a:xfrm>
            <a:off x="6490931" y="1158578"/>
            <a:ext cx="2284039" cy="45408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 contourW="50800"/>
        </p:spPr>
      </p:pic>
      <p:pic>
        <p:nvPicPr>
          <p:cNvPr id="8" name="Рисунок 7" descr="Изображение выглядит как электроника, текст, снимок экрана, Электронное устрой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B1C0C9-83C6-3A93-913E-6D542FC93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674" y="1158577"/>
            <a:ext cx="2366205" cy="45408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 contourW="25400"/>
        </p:spPr>
      </p:pic>
    </p:spTree>
    <p:extLst>
      <p:ext uri="{BB962C8B-B14F-4D97-AF65-F5344CB8AC3E}">
        <p14:creationId xmlns:p14="http://schemas.microsoft.com/office/powerpoint/2010/main" val="200993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54880B4-601E-21CD-7318-F314DE32B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273C07-5BC8-EB77-E88A-459E3CAB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1CADCDF-4158-8415-866F-0656741E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Use-case </a:t>
            </a:r>
            <a:r>
              <a:rPr lang="ru-RU" sz="4000" b="1" dirty="0"/>
              <a:t>диаграмма</a:t>
            </a:r>
            <a:endParaRPr lang="ru-RU" sz="4000" dirty="0"/>
          </a:p>
        </p:txBody>
      </p:sp>
      <p:pic>
        <p:nvPicPr>
          <p:cNvPr id="7" name="Объект 4">
            <a:extLst>
              <a:ext uri="{FF2B5EF4-FFF2-40B4-BE49-F238E27FC236}">
                <a16:creationId xmlns:a16="http://schemas.microsoft.com/office/drawing/2014/main" id="{0F0A0CF3-8683-9CCC-C32C-9C85A4F7D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507" y="1062842"/>
            <a:ext cx="6060168" cy="4979769"/>
          </a:xfrm>
        </p:spPr>
      </p:pic>
    </p:spTree>
    <p:extLst>
      <p:ext uri="{BB962C8B-B14F-4D97-AF65-F5344CB8AC3E}">
        <p14:creationId xmlns:p14="http://schemas.microsoft.com/office/powerpoint/2010/main" val="112202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20BD85A-9BDE-CC72-91E2-82DB2850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Activity → </a:t>
            </a:r>
            <a:r>
              <a:rPr lang="en-US" sz="2800" dirty="0" err="1"/>
              <a:t>ViewModel</a:t>
            </a:r>
            <a:r>
              <a:rPr lang="en-US" sz="2800" dirty="0"/>
              <a:t> → Repository → Retrofit → API → </a:t>
            </a:r>
            <a:r>
              <a:rPr lang="ru-RU" sz="2800" dirty="0"/>
              <a:t>обратно</a:t>
            </a:r>
          </a:p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823441-A281-AACF-E2E0-72136D22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FBF1BC-E958-D205-CE49-87C5A3B3C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B205849-6C22-DCAA-2B2C-40534D75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Диаграмма последовательности </a:t>
            </a:r>
            <a:br>
              <a:rPr lang="ru-RU" sz="3600" b="1" dirty="0"/>
            </a:br>
            <a:r>
              <a:rPr lang="ru-RU" sz="3600" b="1" dirty="0"/>
              <a:t>— Загрузка списка</a:t>
            </a:r>
            <a:endParaRPr lang="ru-RU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B7853F-70E0-F6F2-CD21-F736B11DD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0640"/>
            <a:ext cx="10390898" cy="38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5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6DBBE4C-D221-26FF-C469-20DBD08D6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Пользователь видит понятные сообщения об ошибках</a:t>
            </a:r>
          </a:p>
          <a:p>
            <a:r>
              <a:rPr lang="ru-RU" sz="2800" dirty="0"/>
              <a:t>Проверка обязательных полей</a:t>
            </a:r>
          </a:p>
          <a:p>
            <a:r>
              <a:rPr lang="ru-RU" sz="2800" dirty="0"/>
              <a:t>Ограничения количества по остатку</a:t>
            </a:r>
          </a:p>
          <a:p>
            <a:r>
              <a:rPr lang="ru-RU" sz="2800" dirty="0"/>
              <a:t>Нет прямого доступа к данным из UI</a:t>
            </a:r>
          </a:p>
          <a:p>
            <a:r>
              <a:rPr lang="ru-RU" sz="2800" dirty="0"/>
              <a:t>Все операции проходят через контролируемые слои</a:t>
            </a:r>
          </a:p>
          <a:p>
            <a:pPr marL="0" indent="0">
              <a:buNone/>
            </a:pPr>
            <a:endParaRPr lang="ru-RU" sz="2800" dirty="0"/>
          </a:p>
          <a:p>
            <a:endParaRPr lang="ru-RU" sz="2800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2CBC481-080D-9F65-31A2-32EB3983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83E5AC-19E2-1531-28DB-8D7273F7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4ABFEB6-1503-4EDF-E551-35A7157DB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Тестирование и надёжность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943208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B8BF7BEB-3102-30FD-652A-82AB88123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Проект полностью реализует требования складского учёта</a:t>
            </a:r>
          </a:p>
          <a:p>
            <a:r>
              <a:rPr lang="ru-RU" sz="2800" dirty="0"/>
              <a:t>Готов к расширению</a:t>
            </a:r>
          </a:p>
          <a:p>
            <a:endParaRPr lang="ru-RU" sz="2800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94724E-225E-8428-53F7-7A4102EC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ABC850-9B7A-1F0C-56D3-ECD15AB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AD63D36-C799-ADF6-54EB-73CE36CE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Заключение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389556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Samsung Fonts">
      <a:majorFont>
        <a:latin typeface="SamsungOne 800C"/>
        <a:ea typeface=""/>
        <a:cs typeface=""/>
      </a:majorFont>
      <a:minorFont>
        <a:latin typeface="SamsungOne 450C"/>
        <a:ea typeface=""/>
        <a:cs typeface="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335</Words>
  <Application>Microsoft Office PowerPoint</Application>
  <PresentationFormat>Широкоэкранный</PresentationFormat>
  <Paragraphs>68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SamsungOne 450C</vt:lpstr>
      <vt:lpstr>SamsungOne 800C</vt:lpstr>
      <vt:lpstr>Calibri</vt:lpstr>
      <vt:lpstr>Тема Office</vt:lpstr>
      <vt:lpstr>Разработка Android-приложения для учёта поступления и расхода товаров на складе</vt:lpstr>
      <vt:lpstr>Актуальность</vt:lpstr>
      <vt:lpstr>Цель проекта</vt:lpstr>
      <vt:lpstr>Задачи</vt:lpstr>
      <vt:lpstr>Архитектура приложения</vt:lpstr>
      <vt:lpstr>О приложении (функционал)</vt:lpstr>
      <vt:lpstr>О приложении (UI/UX особенности)</vt:lpstr>
      <vt:lpstr>Use-case диаграмма</vt:lpstr>
      <vt:lpstr>Диаграмма последовательности  — Загрузка списка</vt:lpstr>
      <vt:lpstr>Тестирование и надёжность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IT Academy Kotlin Course</dc:title>
  <dc:creator>Roman Lesovoy</dc:creator>
  <cp:lastModifiedBy>Кристина Брянцева</cp:lastModifiedBy>
  <cp:revision>20</cp:revision>
  <dcterms:created xsi:type="dcterms:W3CDTF">2020-10-18T13:39:56Z</dcterms:created>
  <dcterms:modified xsi:type="dcterms:W3CDTF">2026-05-02T09:39:15Z</dcterms:modified>
</cp:coreProperties>
</file>